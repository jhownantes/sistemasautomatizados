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oppins" charset="1" panose="00000500000000000000"/>
      <p:regular r:id="rId23"/>
    </p:embeddedFont>
    <p:embeddedFont>
      <p:font typeface="Open Sans Bold" charset="1" panose="020B08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9501831" cy="8229600"/>
            <a:chOff x="0" y="0"/>
            <a:chExt cx="2502540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2540" cy="2167467"/>
            </a:xfrm>
            <a:custGeom>
              <a:avLst/>
              <a:gdLst/>
              <a:ahLst/>
              <a:cxnLst/>
              <a:rect r="r" b="b" t="t" l="l"/>
              <a:pathLst>
                <a:path h="2167467" w="2502540">
                  <a:moveTo>
                    <a:pt x="0" y="0"/>
                  </a:moveTo>
                  <a:lnTo>
                    <a:pt x="2502540" y="0"/>
                  </a:lnTo>
                  <a:lnTo>
                    <a:pt x="2502540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41722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02540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1028700"/>
            <a:ext cx="8115300" cy="8229600"/>
            <a:chOff x="0" y="0"/>
            <a:chExt cx="1257272" cy="12749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7272" cy="1274980"/>
            </a:xfrm>
            <a:custGeom>
              <a:avLst/>
              <a:gdLst/>
              <a:ahLst/>
              <a:cxnLst/>
              <a:rect r="r" b="b" t="t" l="l"/>
              <a:pathLst>
                <a:path h="1274980" w="1257272">
                  <a:moveTo>
                    <a:pt x="0" y="0"/>
                  </a:moveTo>
                  <a:lnTo>
                    <a:pt x="1257272" y="0"/>
                  </a:lnTo>
                  <a:lnTo>
                    <a:pt x="1257272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-704" t="0" r="-704" b="0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736417" y="668623"/>
            <a:ext cx="3301242" cy="720155"/>
            <a:chOff x="0" y="0"/>
            <a:chExt cx="4401656" cy="9602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028700" y="8898223"/>
            <a:ext cx="3301242" cy="720155"/>
            <a:chOff x="0" y="0"/>
            <a:chExt cx="4401656" cy="9602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2432541" y="5695087"/>
            <a:ext cx="5377547" cy="837236"/>
            <a:chOff x="0" y="0"/>
            <a:chExt cx="1416309" cy="22050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16309" cy="220507"/>
            </a:xfrm>
            <a:custGeom>
              <a:avLst/>
              <a:gdLst/>
              <a:ahLst/>
              <a:cxnLst/>
              <a:rect r="r" b="b" t="t" l="l"/>
              <a:pathLst>
                <a:path h="220507" w="1416309">
                  <a:moveTo>
                    <a:pt x="0" y="0"/>
                  </a:moveTo>
                  <a:lnTo>
                    <a:pt x="1416309" y="0"/>
                  </a:lnTo>
                  <a:lnTo>
                    <a:pt x="1416309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416309" cy="2776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12"/>
                </a:lnSpc>
              </a:pPr>
              <a:r>
                <a:rPr lang="en-US" sz="200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Disciplina: Sistemas Automatizados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042015" y="7976137"/>
            <a:ext cx="2995645" cy="666597"/>
            <a:chOff x="0" y="0"/>
            <a:chExt cx="788976" cy="1755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88976" cy="175565"/>
            </a:xfrm>
            <a:custGeom>
              <a:avLst/>
              <a:gdLst/>
              <a:ahLst/>
              <a:cxnLst/>
              <a:rect r="r" b="b" t="t" l="l"/>
              <a:pathLst>
                <a:path h="175565" w="788976">
                  <a:moveTo>
                    <a:pt x="0" y="0"/>
                  </a:moveTo>
                  <a:lnTo>
                    <a:pt x="788976" y="0"/>
                  </a:lnTo>
                  <a:lnTo>
                    <a:pt x="788976" y="175565"/>
                  </a:lnTo>
                  <a:lnTo>
                    <a:pt x="0" y="175565"/>
                  </a:lnTo>
                  <a:close/>
                </a:path>
              </a:pathLst>
            </a:custGeom>
            <a:solidFill>
              <a:srgbClr val="084A65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788976" cy="23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12"/>
                </a:lnSpc>
              </a:pPr>
              <a:r>
                <a:rPr lang="en-US" sz="200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2026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99349" y="7976137"/>
            <a:ext cx="4214628" cy="666597"/>
            <a:chOff x="0" y="0"/>
            <a:chExt cx="1110025" cy="1755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10025" cy="175565"/>
            </a:xfrm>
            <a:custGeom>
              <a:avLst/>
              <a:gdLst/>
              <a:ahLst/>
              <a:cxnLst/>
              <a:rect r="r" b="b" t="t" l="l"/>
              <a:pathLst>
                <a:path h="175565" w="1110025">
                  <a:moveTo>
                    <a:pt x="0" y="0"/>
                  </a:moveTo>
                  <a:lnTo>
                    <a:pt x="1110025" y="0"/>
                  </a:lnTo>
                  <a:lnTo>
                    <a:pt x="1110025" y="175565"/>
                  </a:lnTo>
                  <a:lnTo>
                    <a:pt x="0" y="175565"/>
                  </a:lnTo>
                  <a:close/>
                </a:path>
              </a:pathLst>
            </a:custGeom>
            <a:solidFill>
              <a:srgbClr val="084A65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110025" cy="23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12"/>
                </a:lnSpc>
              </a:pPr>
              <a:r>
                <a:rPr lang="en-US" sz="200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Universidade São Judas Tadeu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681327" y="2310863"/>
            <a:ext cx="879973" cy="879973"/>
            <a:chOff x="0" y="0"/>
            <a:chExt cx="736600" cy="736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681327" y="7096164"/>
            <a:ext cx="879973" cy="879973"/>
            <a:chOff x="0" y="0"/>
            <a:chExt cx="736600" cy="736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566945" y="3621327"/>
            <a:ext cx="7108738" cy="1617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338"/>
              </a:lnSpc>
              <a:spcBef>
                <a:spcPct val="0"/>
              </a:spcBef>
            </a:pPr>
            <a:r>
              <a:rPr lang="en-US" sz="4527" spc="-3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Sistema Automatizado de Controle de Tanque de Água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41722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1329" y="1028700"/>
            <a:ext cx="7197227" cy="8229600"/>
            <a:chOff x="0" y="0"/>
            <a:chExt cx="1410126" cy="16123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0126" cy="1612395"/>
            </a:xfrm>
            <a:custGeom>
              <a:avLst/>
              <a:gdLst/>
              <a:ahLst/>
              <a:cxnLst/>
              <a:rect r="r" b="b" t="t" l="l"/>
              <a:pathLst>
                <a:path h="1612395" w="1410126">
                  <a:moveTo>
                    <a:pt x="0" y="0"/>
                  </a:moveTo>
                  <a:lnTo>
                    <a:pt x="1410126" y="0"/>
                  </a:lnTo>
                  <a:lnTo>
                    <a:pt x="1410126" y="1612395"/>
                  </a:lnTo>
                  <a:lnTo>
                    <a:pt x="0" y="1612395"/>
                  </a:lnTo>
                  <a:close/>
                </a:path>
              </a:pathLst>
            </a:custGeom>
            <a:blipFill>
              <a:blip r:embed="rId2"/>
              <a:stretch>
                <a:fillRect l="0" t="-4068" r="0" b="-4068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16379327" y="1451787"/>
            <a:ext cx="879973" cy="879973"/>
            <a:chOff x="0" y="0"/>
            <a:chExt cx="736600" cy="736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434255" y="1451787"/>
            <a:ext cx="879973" cy="879973"/>
            <a:chOff x="0" y="0"/>
            <a:chExt cx="7366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9522556" y="2144049"/>
            <a:ext cx="7108738" cy="178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7"/>
              </a:lnSpc>
            </a:pPr>
            <a:r>
              <a:rPr lang="en-US" sz="7194" spc="-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Contextualização do Problema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8211315" y="4198178"/>
            <a:ext cx="4490240" cy="903702"/>
            <a:chOff x="0" y="0"/>
            <a:chExt cx="1095635" cy="22050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5635" cy="220507"/>
            </a:xfrm>
            <a:custGeom>
              <a:avLst/>
              <a:gdLst/>
              <a:ahLst/>
              <a:cxnLst/>
              <a:rect r="r" b="b" t="t" l="l"/>
              <a:pathLst>
                <a:path h="220507" w="1095635">
                  <a:moveTo>
                    <a:pt x="0" y="0"/>
                  </a:moveTo>
                  <a:lnTo>
                    <a:pt x="1095635" y="0"/>
                  </a:lnTo>
                  <a:lnTo>
                    <a:pt x="1095635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095635" cy="287182"/>
            </a:xfrm>
            <a:prstGeom prst="rect">
              <a:avLst/>
            </a:prstGeom>
          </p:spPr>
          <p:txBody>
            <a:bodyPr anchor="ctr" rtlCol="false" tIns="54833" lIns="54833" bIns="54833" rIns="54833"/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Desafios do Controle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8211315" y="5281295"/>
            <a:ext cx="9614180" cy="3977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Instalações dependentes de armazenamento: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•Indústrias, condomínios, saneamento e reservatórios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Problemas comuns enfrentados: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Transbordamento por falta de controle de nível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Trabalho a seco: bomba opera sem água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Desperdício energético e danos a equipamentos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Necessidade de monitoramento contínuo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143500"/>
            <a:ext cx="16230600" cy="4114800"/>
            <a:chOff x="0" y="0"/>
            <a:chExt cx="3180001" cy="8061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80001" cy="806197"/>
            </a:xfrm>
            <a:custGeom>
              <a:avLst/>
              <a:gdLst/>
              <a:ahLst/>
              <a:cxnLst/>
              <a:rect r="r" b="b" t="t" l="l"/>
              <a:pathLst>
                <a:path h="806197" w="3180001">
                  <a:moveTo>
                    <a:pt x="0" y="0"/>
                  </a:moveTo>
                  <a:lnTo>
                    <a:pt x="3180001" y="0"/>
                  </a:lnTo>
                  <a:lnTo>
                    <a:pt x="3180001" y="806197"/>
                  </a:lnTo>
                  <a:lnTo>
                    <a:pt x="0" y="806197"/>
                  </a:lnTo>
                  <a:close/>
                </a:path>
              </a:pathLst>
            </a:custGeom>
            <a:blipFill>
              <a:blip r:embed="rId2"/>
              <a:stretch>
                <a:fillRect l="0" t="-62416" r="0" b="-62416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17487936" y="588713"/>
            <a:ext cx="879973" cy="879973"/>
            <a:chOff x="0" y="0"/>
            <a:chExt cx="736600" cy="736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-79909" y="8818313"/>
            <a:ext cx="879973" cy="879973"/>
            <a:chOff x="0" y="0"/>
            <a:chExt cx="7366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492120" y="2020655"/>
            <a:ext cx="5108466" cy="178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7"/>
              </a:lnSpc>
            </a:pPr>
            <a:r>
              <a:rPr lang="en-US" sz="7194" spc="-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do Projeto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8446927" y="1173462"/>
            <a:ext cx="4536852" cy="837236"/>
            <a:chOff x="0" y="0"/>
            <a:chExt cx="1194891" cy="22050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94891" cy="220507"/>
            </a:xfrm>
            <a:custGeom>
              <a:avLst/>
              <a:gdLst/>
              <a:ahLst/>
              <a:cxnLst/>
              <a:rect r="r" b="b" t="t" l="l"/>
              <a:pathLst>
                <a:path h="220507" w="1194891">
                  <a:moveTo>
                    <a:pt x="0" y="0"/>
                  </a:moveTo>
                  <a:lnTo>
                    <a:pt x="1194891" y="0"/>
                  </a:lnTo>
                  <a:lnTo>
                    <a:pt x="1194891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194891" cy="28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Metas do Sistema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8446927" y="2454487"/>
            <a:ext cx="8988819" cy="245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22"/>
              </a:lnSpc>
              <a:spcBef>
                <a:spcPct val="0"/>
              </a:spcBef>
            </a:pPr>
            <a:r>
              <a:rPr lang="en-US" sz="28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Monitorar o nível de água em tempo real</a:t>
            </a:r>
          </a:p>
          <a:p>
            <a:pPr algn="just" marL="0" indent="0" lvl="0">
              <a:lnSpc>
                <a:spcPts val="3922"/>
              </a:lnSpc>
              <a:spcBef>
                <a:spcPct val="0"/>
              </a:spcBef>
            </a:pPr>
            <a:r>
              <a:rPr lang="en-US" sz="28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Controlar a bomba hidráulica automaticamente</a:t>
            </a:r>
          </a:p>
          <a:p>
            <a:pPr algn="just" marL="0" indent="0" lvl="0">
              <a:lnSpc>
                <a:spcPts val="3922"/>
              </a:lnSpc>
              <a:spcBef>
                <a:spcPct val="0"/>
              </a:spcBef>
            </a:pPr>
            <a:r>
              <a:rPr lang="en-US" sz="28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Evitar transbordamentos e desperdício</a:t>
            </a:r>
          </a:p>
          <a:p>
            <a:pPr algn="just" marL="0" indent="0" lvl="0">
              <a:lnSpc>
                <a:spcPts val="3922"/>
              </a:lnSpc>
              <a:spcBef>
                <a:spcPct val="0"/>
              </a:spcBef>
            </a:pPr>
            <a:r>
              <a:rPr lang="en-US" sz="28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Detectar falhas operacionais com segurança</a:t>
            </a:r>
          </a:p>
          <a:p>
            <a:pPr algn="just" marL="0" indent="0" lvl="0">
              <a:lnSpc>
                <a:spcPts val="3922"/>
              </a:lnSpc>
              <a:spcBef>
                <a:spcPct val="0"/>
              </a:spcBef>
            </a:pPr>
            <a:r>
              <a:rPr lang="en-US" sz="280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Implementar rotina de reset seguro do sistema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C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60077" y="3395260"/>
            <a:ext cx="7056465" cy="5835920"/>
            <a:chOff x="0" y="0"/>
            <a:chExt cx="1382547" cy="11434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2547" cy="1143410"/>
            </a:xfrm>
            <a:custGeom>
              <a:avLst/>
              <a:gdLst/>
              <a:ahLst/>
              <a:cxnLst/>
              <a:rect r="r" b="b" t="t" l="l"/>
              <a:pathLst>
                <a:path h="1143410" w="1382547">
                  <a:moveTo>
                    <a:pt x="0" y="0"/>
                  </a:moveTo>
                  <a:lnTo>
                    <a:pt x="1382547" y="0"/>
                  </a:lnTo>
                  <a:lnTo>
                    <a:pt x="1382547" y="1143410"/>
                  </a:lnTo>
                  <a:lnTo>
                    <a:pt x="0" y="1143410"/>
                  </a:lnTo>
                  <a:close/>
                </a:path>
              </a:pathLst>
            </a:custGeom>
            <a:blipFill>
              <a:blip r:embed="rId2"/>
              <a:stretch>
                <a:fillRect l="-1130" t="0" r="-1130" b="0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16394789" y="1570712"/>
            <a:ext cx="879973" cy="879973"/>
            <a:chOff x="0" y="0"/>
            <a:chExt cx="736600" cy="736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8700" y="1570712"/>
            <a:ext cx="879973" cy="879973"/>
            <a:chOff x="0" y="0"/>
            <a:chExt cx="7366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260204" y="1606317"/>
            <a:ext cx="15574571" cy="96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7"/>
              </a:lnSpc>
            </a:pPr>
            <a:r>
              <a:rPr lang="en-US" sz="7194" spc="-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Arquitetura Geral do Sistema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144000" y="3395260"/>
            <a:ext cx="4391905" cy="837236"/>
            <a:chOff x="0" y="0"/>
            <a:chExt cx="1156716" cy="22050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56716" cy="220507"/>
            </a:xfrm>
            <a:custGeom>
              <a:avLst/>
              <a:gdLst/>
              <a:ahLst/>
              <a:cxnLst/>
              <a:rect r="r" b="b" t="t" l="l"/>
              <a:pathLst>
                <a:path h="220507" w="1156716">
                  <a:moveTo>
                    <a:pt x="0" y="0"/>
                  </a:moveTo>
                  <a:lnTo>
                    <a:pt x="1156716" y="0"/>
                  </a:lnTo>
                  <a:lnTo>
                    <a:pt x="1156716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156716" cy="28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Componentes Principais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144000" y="4516559"/>
            <a:ext cx="8783923" cy="298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CLP (Controlador Lógico Programável)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4 Sensores de Nível: Baixo, Médio, Alto, Máximo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Bomba Hidráulica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Válvula de Drenagem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Torre de Sinalização (Piloto Luminoso)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Sirene de Alarme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664356" y="7807764"/>
            <a:ext cx="10263567" cy="1450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08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Fluxo: Sensores → CLP → Bomba / Válvula → Alarmes / HMI</a:t>
            </a:r>
          </a:p>
          <a:p>
            <a:pPr algn="just" marL="0" indent="0" lvl="0">
              <a:lnSpc>
                <a:spcPts val="2908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Os sensores enviam sinais ao CLP, que processa a lógica Ladder e aciona bomba, válvula e alarmes conforme o nível do tanque, garantindo operação segura e autônoma.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10014" y="360077"/>
            <a:ext cx="7249286" cy="6265603"/>
            <a:chOff x="0" y="0"/>
            <a:chExt cx="1420325" cy="12275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0325" cy="1227596"/>
            </a:xfrm>
            <a:custGeom>
              <a:avLst/>
              <a:gdLst/>
              <a:ahLst/>
              <a:cxnLst/>
              <a:rect r="r" b="b" t="t" l="l"/>
              <a:pathLst>
                <a:path h="1227596" w="1420325">
                  <a:moveTo>
                    <a:pt x="0" y="0"/>
                  </a:moveTo>
                  <a:lnTo>
                    <a:pt x="1420325" y="0"/>
                  </a:lnTo>
                  <a:lnTo>
                    <a:pt x="1420325" y="1227596"/>
                  </a:lnTo>
                  <a:lnTo>
                    <a:pt x="0" y="1227596"/>
                  </a:lnTo>
                  <a:close/>
                </a:path>
              </a:pathLst>
            </a:custGeom>
            <a:blipFill>
              <a:blip r:embed="rId2"/>
              <a:stretch>
                <a:fillRect l="-3434" t="0" r="-3434" b="0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1028700" y="1028700"/>
            <a:ext cx="879973" cy="879973"/>
            <a:chOff x="0" y="0"/>
            <a:chExt cx="736600" cy="736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408702" y="1028700"/>
            <a:ext cx="879973" cy="879973"/>
            <a:chOff x="0" y="0"/>
            <a:chExt cx="7366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011755" y="2144049"/>
            <a:ext cx="5276920" cy="178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7"/>
              </a:lnSpc>
            </a:pPr>
            <a:r>
              <a:rPr lang="en-US" sz="7194" spc="-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Modos de Operação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468687" y="4909904"/>
            <a:ext cx="5029673" cy="837236"/>
            <a:chOff x="0" y="0"/>
            <a:chExt cx="1324688" cy="22050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24688" cy="220507"/>
            </a:xfrm>
            <a:custGeom>
              <a:avLst/>
              <a:gdLst/>
              <a:ahLst/>
              <a:cxnLst/>
              <a:rect r="r" b="b" t="t" l="l"/>
              <a:pathLst>
                <a:path h="220507" w="1324688">
                  <a:moveTo>
                    <a:pt x="0" y="0"/>
                  </a:moveTo>
                  <a:lnTo>
                    <a:pt x="1324688" y="0"/>
                  </a:lnTo>
                  <a:lnTo>
                    <a:pt x="1324688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324688" cy="28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Manual vs Automático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468687" y="5872122"/>
            <a:ext cx="7249286" cy="348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Modo Manual: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Controle direto pelo operador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Acionamento individual dos dispositivos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Utilizado para testes e manutenção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Permite diagnóstico de falhas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Requer presença humana constante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010014" y="6822885"/>
            <a:ext cx="8400623" cy="280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2"/>
              </a:lnSpc>
              <a:spcBef>
                <a:spcPct val="0"/>
              </a:spcBef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Modo Automático:</a:t>
            </a:r>
          </a:p>
          <a:p>
            <a:pPr algn="l" marL="0" indent="0" lvl="0">
              <a:lnSpc>
                <a:spcPts val="3722"/>
              </a:lnSpc>
              <a:spcBef>
                <a:spcPct val="0"/>
              </a:spcBef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Controle integral pelo CLP</a:t>
            </a:r>
          </a:p>
          <a:p>
            <a:pPr algn="l" marL="0" indent="0" lvl="0">
              <a:lnSpc>
                <a:spcPts val="3722"/>
              </a:lnSpc>
              <a:spcBef>
                <a:spcPct val="0"/>
              </a:spcBef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Sem intervenção humana contínua</a:t>
            </a:r>
          </a:p>
          <a:p>
            <a:pPr algn="l" marL="0" indent="0" lvl="0">
              <a:lnSpc>
                <a:spcPts val="3722"/>
              </a:lnSpc>
              <a:spcBef>
                <a:spcPct val="0"/>
              </a:spcBef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Resposta em tempo real aos sensores</a:t>
            </a:r>
          </a:p>
          <a:p>
            <a:pPr algn="l" marL="0" indent="0" lvl="0">
              <a:lnSpc>
                <a:spcPts val="3722"/>
              </a:lnSpc>
              <a:spcBef>
                <a:spcPct val="0"/>
              </a:spcBef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Lógica Ladder garante segurança</a:t>
            </a:r>
          </a:p>
          <a:p>
            <a:pPr algn="l" marL="0" indent="0" lvl="0">
              <a:lnSpc>
                <a:spcPts val="3722"/>
              </a:lnSpc>
              <a:spcBef>
                <a:spcPct val="0"/>
              </a:spcBef>
            </a:pPr>
            <a:r>
              <a:rPr lang="en-US" sz="26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Maior eficiência e confiabilidade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4734" y="2201452"/>
            <a:ext cx="8204972" cy="4925641"/>
            <a:chOff x="0" y="0"/>
            <a:chExt cx="1351956" cy="8116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1956" cy="811611"/>
            </a:xfrm>
            <a:custGeom>
              <a:avLst/>
              <a:gdLst/>
              <a:ahLst/>
              <a:cxnLst/>
              <a:rect r="r" b="b" t="t" l="l"/>
              <a:pathLst>
                <a:path h="811611" w="1351956">
                  <a:moveTo>
                    <a:pt x="0" y="0"/>
                  </a:moveTo>
                  <a:lnTo>
                    <a:pt x="1351956" y="0"/>
                  </a:lnTo>
                  <a:lnTo>
                    <a:pt x="1351956" y="811611"/>
                  </a:lnTo>
                  <a:lnTo>
                    <a:pt x="0" y="811611"/>
                  </a:lnTo>
                  <a:close/>
                </a:path>
              </a:pathLst>
            </a:custGeom>
            <a:blipFill>
              <a:blip r:embed="rId2"/>
              <a:stretch>
                <a:fillRect l="-2659" t="0" r="-2659" b="0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784747" y="658141"/>
            <a:ext cx="879973" cy="879973"/>
            <a:chOff x="0" y="0"/>
            <a:chExt cx="736600" cy="736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27691" y="658141"/>
            <a:ext cx="879973" cy="879973"/>
            <a:chOff x="0" y="0"/>
            <a:chExt cx="7366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393937" y="684552"/>
            <a:ext cx="7035768" cy="9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2"/>
              </a:lnSpc>
            </a:pPr>
            <a:r>
              <a:rPr lang="en-US" sz="7200" spc="-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Sensores de Nível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1011704" y="1645053"/>
            <a:ext cx="5029673" cy="837236"/>
            <a:chOff x="0" y="0"/>
            <a:chExt cx="1324688" cy="22050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24688" cy="220507"/>
            </a:xfrm>
            <a:custGeom>
              <a:avLst/>
              <a:gdLst/>
              <a:ahLst/>
              <a:cxnLst/>
              <a:rect r="r" b="b" t="t" l="l"/>
              <a:pathLst>
                <a:path h="220507" w="1324688">
                  <a:moveTo>
                    <a:pt x="0" y="0"/>
                  </a:moveTo>
                  <a:lnTo>
                    <a:pt x="1324688" y="0"/>
                  </a:lnTo>
                  <a:lnTo>
                    <a:pt x="1324688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324688" cy="28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Quatro Sensores de Controle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011704" y="2930378"/>
            <a:ext cx="6247596" cy="4196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Sensor Baixo: indica nível mínimo do tanque; aciona a bomba para início do enchimento.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Sensor Médio: confirma faixa segura de operação; sistema opera normalmente.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Sensor Alto: desliga a bomba hidráulica ao atingir nível adequado.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Sensor Máximo: nível de emergência; dispara alarme e aciona proteções do sistema.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24734" y="7533484"/>
            <a:ext cx="16518311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combinação dos quatro sensores garante controle preciso e seguro do nível de água. A lógica de histerese entre os sensores Baixo e Alto evita liga/desliga frequente da bomba, aumentando a vida útil dos equipamentos e a eficiência energética do sistema.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156094" y="9926923"/>
            <a:ext cx="3301242" cy="720155"/>
            <a:chOff x="0" y="0"/>
            <a:chExt cx="4401656" cy="96020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17487936" y="588713"/>
            <a:ext cx="879973" cy="879973"/>
            <a:chOff x="0" y="0"/>
            <a:chExt cx="736600" cy="736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-79909" y="8818313"/>
            <a:ext cx="879973" cy="879973"/>
            <a:chOff x="0" y="0"/>
            <a:chExt cx="736600" cy="736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421205" y="2887968"/>
            <a:ext cx="4536852" cy="837236"/>
            <a:chOff x="0" y="0"/>
            <a:chExt cx="1194891" cy="22050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94891" cy="220507"/>
            </a:xfrm>
            <a:custGeom>
              <a:avLst/>
              <a:gdLst/>
              <a:ahLst/>
              <a:cxnLst/>
              <a:rect r="r" b="b" t="t" l="l"/>
              <a:pathLst>
                <a:path h="220507" w="1194891">
                  <a:moveTo>
                    <a:pt x="0" y="0"/>
                  </a:moveTo>
                  <a:lnTo>
                    <a:pt x="1194891" y="0"/>
                  </a:lnTo>
                  <a:lnTo>
                    <a:pt x="1194891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1194891" cy="28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Solução para Oscilações</a:t>
              </a: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968636" y="2887968"/>
            <a:ext cx="8165708" cy="5930346"/>
          </a:xfrm>
          <a:custGeom>
            <a:avLst/>
            <a:gdLst/>
            <a:ahLst/>
            <a:cxnLst/>
            <a:rect r="r" b="b" t="t" l="l"/>
            <a:pathLst>
              <a:path h="5930346" w="8165708">
                <a:moveTo>
                  <a:pt x="0" y="0"/>
                </a:moveTo>
                <a:lnTo>
                  <a:pt x="8165709" y="0"/>
                </a:lnTo>
                <a:lnTo>
                  <a:pt x="8165709" y="5930345"/>
                </a:lnTo>
                <a:lnTo>
                  <a:pt x="0" y="5930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968636" y="890033"/>
            <a:ext cx="5108466" cy="178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7"/>
              </a:lnSpc>
            </a:pPr>
            <a:r>
              <a:rPr lang="en-US" sz="7194" spc="-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Controle por Histerese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382864" y="4448176"/>
            <a:ext cx="8545059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Problema: oscilações na água causam liga/desliga frequente da bomba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Solução: histerese entre sensor Baixo e sensor Alto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Bomba LIGA quando sensor Baixo desativa (nível cai)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Bomba DESLIGA quando sensor Alto ativa (nível sobe)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Zona de operação segura entre os dois sensores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422380"/>
            <a:ext cx="7311253" cy="5835920"/>
            <a:chOff x="0" y="0"/>
            <a:chExt cx="1432466" cy="11434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2466" cy="1143410"/>
            </a:xfrm>
            <a:custGeom>
              <a:avLst/>
              <a:gdLst/>
              <a:ahLst/>
              <a:cxnLst/>
              <a:rect r="r" b="b" t="t" l="l"/>
              <a:pathLst>
                <a:path h="1143410" w="1432466">
                  <a:moveTo>
                    <a:pt x="0" y="0"/>
                  </a:moveTo>
                  <a:lnTo>
                    <a:pt x="1432466" y="0"/>
                  </a:lnTo>
                  <a:lnTo>
                    <a:pt x="1432466" y="1143410"/>
                  </a:lnTo>
                  <a:lnTo>
                    <a:pt x="0" y="1143410"/>
                  </a:lnTo>
                  <a:close/>
                </a:path>
              </a:pathLst>
            </a:custGeom>
            <a:blipFill>
              <a:blip r:embed="rId2"/>
              <a:stretch>
                <a:fillRect l="0" t="-660" r="0" b="-660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16394789" y="1570712"/>
            <a:ext cx="879973" cy="879973"/>
            <a:chOff x="0" y="0"/>
            <a:chExt cx="736600" cy="736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8700" y="1570712"/>
            <a:ext cx="879973" cy="879973"/>
            <a:chOff x="0" y="0"/>
            <a:chExt cx="7366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260204" y="1606317"/>
            <a:ext cx="15574571" cy="96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7"/>
              </a:lnSpc>
            </a:pPr>
            <a:r>
              <a:rPr lang="en-US" sz="7194" spc="-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Proteção Contra Trabalho a Seco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433100" y="3422380"/>
            <a:ext cx="4391905" cy="837236"/>
            <a:chOff x="0" y="0"/>
            <a:chExt cx="1156716" cy="22050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56716" cy="220507"/>
            </a:xfrm>
            <a:custGeom>
              <a:avLst/>
              <a:gdLst/>
              <a:ahLst/>
              <a:cxnLst/>
              <a:rect r="r" b="b" t="t" l="l"/>
              <a:pathLst>
                <a:path h="220507" w="1156716">
                  <a:moveTo>
                    <a:pt x="0" y="0"/>
                  </a:moveTo>
                  <a:lnTo>
                    <a:pt x="1156716" y="0"/>
                  </a:lnTo>
                  <a:lnTo>
                    <a:pt x="1156716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156716" cy="28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Risco e Solução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433100" y="4738727"/>
            <a:ext cx="7349195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Riscos da Operação a Seco:</a:t>
            </a:r>
          </a:p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Superaquecimento do motor da bomba</a:t>
            </a:r>
          </a:p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Queima dos enrolamentos elétricos</a:t>
            </a:r>
          </a:p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Cavitação e danos mecânicos</a:t>
            </a:r>
          </a:p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Redução severa da vida útil</a:t>
            </a:r>
          </a:p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Paradas não programadas e custos elevados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433100" y="7299036"/>
            <a:ext cx="8210941" cy="1897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Solução Implementada:</a:t>
            </a:r>
          </a:p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Timer TON de 8 segundos monitorando a partida</a:t>
            </a:r>
          </a:p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 o nível não subir após 8s, a bomba desliga automaticamente</a:t>
            </a:r>
          </a:p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Alarme é acionado sinalizando falha operacional</a:t>
            </a:r>
          </a:p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Sistema bloqueia nova partida até reset seguro</a:t>
            </a:r>
          </a:p>
          <a:p>
            <a:pPr algn="just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Proteção garante integridade total do equipamento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11755" y="3261957"/>
            <a:ext cx="6900329" cy="4142433"/>
            <a:chOff x="0" y="0"/>
            <a:chExt cx="1351956" cy="8116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1956" cy="811611"/>
            </a:xfrm>
            <a:custGeom>
              <a:avLst/>
              <a:gdLst/>
              <a:ahLst/>
              <a:cxnLst/>
              <a:rect r="r" b="b" t="t" l="l"/>
              <a:pathLst>
                <a:path h="811611" w="1351956">
                  <a:moveTo>
                    <a:pt x="0" y="0"/>
                  </a:moveTo>
                  <a:lnTo>
                    <a:pt x="1351956" y="0"/>
                  </a:lnTo>
                  <a:lnTo>
                    <a:pt x="1351956" y="811611"/>
                  </a:lnTo>
                  <a:lnTo>
                    <a:pt x="0" y="811611"/>
                  </a:lnTo>
                  <a:close/>
                </a:path>
              </a:pathLst>
            </a:custGeom>
            <a:blipFill>
              <a:blip r:embed="rId2"/>
              <a:stretch>
                <a:fillRect l="-2659" t="0" r="-2659" b="0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784747" y="658141"/>
            <a:ext cx="879973" cy="879973"/>
            <a:chOff x="0" y="0"/>
            <a:chExt cx="736600" cy="736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819313" y="8818313"/>
            <a:ext cx="879973" cy="879973"/>
            <a:chOff x="0" y="0"/>
            <a:chExt cx="7366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011755" y="1731206"/>
            <a:ext cx="6900329" cy="1297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64"/>
              </a:lnSpc>
            </a:pPr>
            <a:r>
              <a:rPr lang="en-US" sz="5235" spc="-4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Proteção Contra Tempo Máximo de Enchimento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0269965" y="2843338"/>
            <a:ext cx="5029673" cy="837236"/>
            <a:chOff x="0" y="0"/>
            <a:chExt cx="1324688" cy="22050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24688" cy="220507"/>
            </a:xfrm>
            <a:custGeom>
              <a:avLst/>
              <a:gdLst/>
              <a:ahLst/>
              <a:cxnLst/>
              <a:rect r="r" b="b" t="t" l="l"/>
              <a:pathLst>
                <a:path h="220507" w="1324688">
                  <a:moveTo>
                    <a:pt x="0" y="0"/>
                  </a:moveTo>
                  <a:lnTo>
                    <a:pt x="1324688" y="0"/>
                  </a:lnTo>
                  <a:lnTo>
                    <a:pt x="1324688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324688" cy="28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Timer TON — 90 Segundos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269965" y="3850041"/>
            <a:ext cx="7123429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Problemas que motivam esta proteção: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Sensor de nível travado ou com defeito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Vazamento na tubulação ou no tanque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Falha hidráulica na bomba ou válvula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Risco de operação contínua sem atingir nível alto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959997" y="7729518"/>
            <a:ext cx="15433397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Solução implementada: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Timer TON de 90 segundos é ativado junto com a bomba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 o sensor Alto não for atingido no tempo limite, o sistema dispara alarme automaticamente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Bomba é bloqueada e sistema aguarda reset seguro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Protege equipamentos e sinaliza falha operacional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48047" y="1098128"/>
            <a:ext cx="7311253" cy="8160172"/>
            <a:chOff x="0" y="0"/>
            <a:chExt cx="1432466" cy="15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2466" cy="1598792"/>
            </a:xfrm>
            <a:custGeom>
              <a:avLst/>
              <a:gdLst/>
              <a:ahLst/>
              <a:cxnLst/>
              <a:rect r="r" b="b" t="t" l="l"/>
              <a:pathLst>
                <a:path h="1598792" w="1432466">
                  <a:moveTo>
                    <a:pt x="0" y="0"/>
                  </a:moveTo>
                  <a:lnTo>
                    <a:pt x="1432466" y="0"/>
                  </a:lnTo>
                  <a:lnTo>
                    <a:pt x="1432466" y="1598792"/>
                  </a:lnTo>
                  <a:lnTo>
                    <a:pt x="0" y="1598792"/>
                  </a:lnTo>
                  <a:close/>
                </a:path>
              </a:pathLst>
            </a:custGeom>
            <a:blipFill>
              <a:blip r:embed="rId2"/>
              <a:stretch>
                <a:fillRect l="0" t="-5392" r="0" b="-5392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8264027" y="1130725"/>
            <a:ext cx="879973" cy="879973"/>
            <a:chOff x="0" y="0"/>
            <a:chExt cx="736600" cy="736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84747" y="8638995"/>
            <a:ext cx="879973" cy="879973"/>
            <a:chOff x="0" y="0"/>
            <a:chExt cx="7366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011755" y="1941347"/>
            <a:ext cx="4790493" cy="167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35"/>
              </a:lnSpc>
            </a:pPr>
            <a:r>
              <a:rPr lang="en-US" sz="6742" spc="-5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Rotina de Reset Seguro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2011755" y="4093947"/>
            <a:ext cx="5329754" cy="837236"/>
            <a:chOff x="0" y="0"/>
            <a:chExt cx="1403721" cy="22050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03721" cy="220507"/>
            </a:xfrm>
            <a:custGeom>
              <a:avLst/>
              <a:gdLst/>
              <a:ahLst/>
              <a:cxnLst/>
              <a:rect r="r" b="b" t="t" l="l"/>
              <a:pathLst>
                <a:path h="220507" w="1403721">
                  <a:moveTo>
                    <a:pt x="0" y="0"/>
                  </a:moveTo>
                  <a:lnTo>
                    <a:pt x="1403721" y="0"/>
                  </a:lnTo>
                  <a:lnTo>
                    <a:pt x="1403721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403721" cy="28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Diferencial do Projeto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2011755" y="5254243"/>
            <a:ext cx="6874451" cy="274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RESET não apenas apaga o alarme</a:t>
            </a:r>
          </a:p>
          <a:p>
            <a:pPr algn="just" marL="0" indent="0" lvl="0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Bloqueia a bomba hidráulica</a:t>
            </a:r>
          </a:p>
          <a:p>
            <a:pPr algn="just" marL="0" indent="0" lvl="0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Abre a válvula de drenagem</a:t>
            </a:r>
          </a:p>
          <a:p>
            <a:pPr algn="just" marL="0" indent="0" lvl="0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Esvazia o tanque completamente</a:t>
            </a:r>
          </a:p>
          <a:p>
            <a:pPr algn="just" marL="0" indent="0" lvl="0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Retorna à condição operacional segura</a:t>
            </a:r>
          </a:p>
          <a:p>
            <a:pPr algn="just" marL="0" indent="0" lvl="0">
              <a:lnSpc>
                <a:spcPts val="3622"/>
              </a:lnSpc>
              <a:spcBef>
                <a:spcPct val="0"/>
              </a:spcBef>
            </a:pPr>
            <a:r>
              <a:rPr lang="en-US" sz="25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Libera nova partida controlada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24734" y="2010699"/>
            <a:ext cx="7740951" cy="4952989"/>
            <a:chOff x="0" y="0"/>
            <a:chExt cx="1268455" cy="8116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8455" cy="811611"/>
            </a:xfrm>
            <a:custGeom>
              <a:avLst/>
              <a:gdLst/>
              <a:ahLst/>
              <a:cxnLst/>
              <a:rect r="r" b="b" t="t" l="l"/>
              <a:pathLst>
                <a:path h="811611" w="1268455">
                  <a:moveTo>
                    <a:pt x="0" y="0"/>
                  </a:moveTo>
                  <a:lnTo>
                    <a:pt x="1268455" y="0"/>
                  </a:lnTo>
                  <a:lnTo>
                    <a:pt x="1268455" y="811611"/>
                  </a:lnTo>
                  <a:lnTo>
                    <a:pt x="0" y="811611"/>
                  </a:lnTo>
                  <a:close/>
                </a:path>
              </a:pathLst>
            </a:custGeom>
            <a:blipFill>
              <a:blip r:embed="rId2"/>
              <a:stretch>
                <a:fillRect l="-6126" t="0" r="-6126" b="0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784747" y="658141"/>
            <a:ext cx="879973" cy="879973"/>
            <a:chOff x="0" y="0"/>
            <a:chExt cx="736600" cy="736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379327" y="588713"/>
            <a:ext cx="879973" cy="879973"/>
            <a:chOff x="0" y="0"/>
            <a:chExt cx="7366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5955625" y="684552"/>
            <a:ext cx="6900329" cy="9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2"/>
              </a:lnSpc>
            </a:pPr>
            <a:r>
              <a:rPr lang="en-US" sz="7200" spc="-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Lógica Ladder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405789" y="2010699"/>
            <a:ext cx="5029673" cy="837236"/>
            <a:chOff x="0" y="0"/>
            <a:chExt cx="1324688" cy="22050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24688" cy="220507"/>
            </a:xfrm>
            <a:custGeom>
              <a:avLst/>
              <a:gdLst/>
              <a:ahLst/>
              <a:cxnLst/>
              <a:rect r="r" b="b" t="t" l="l"/>
              <a:pathLst>
                <a:path h="220507" w="1324688">
                  <a:moveTo>
                    <a:pt x="0" y="0"/>
                  </a:moveTo>
                  <a:lnTo>
                    <a:pt x="1324688" y="0"/>
                  </a:lnTo>
                  <a:lnTo>
                    <a:pt x="1324688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324688" cy="28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Programação CLP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405789" y="3019385"/>
            <a:ext cx="8269459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Principais blocos da programação Ladder implementada: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Selo de Retenção: mantém bomba ligada após acionamento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Histerese: evita liga/desliga frequente entre sensores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Temporizadores TON: proteção seco (8s) e enchimento (90s)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298877" y="5385395"/>
            <a:ext cx="8483283" cy="186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Alarmes: sinalização visual e sonora por torre e sirene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Reset Seguro: rotina completa de retorno à condição segura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Simulação validada no ambiente PLC Fiddle com todos os blocos integrados e testados em múltiplos cenários operacionais.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10014" y="360077"/>
            <a:ext cx="7249286" cy="6265603"/>
            <a:chOff x="0" y="0"/>
            <a:chExt cx="1420325" cy="12275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0325" cy="1227596"/>
            </a:xfrm>
            <a:custGeom>
              <a:avLst/>
              <a:gdLst/>
              <a:ahLst/>
              <a:cxnLst/>
              <a:rect r="r" b="b" t="t" l="l"/>
              <a:pathLst>
                <a:path h="1227596" w="1420325">
                  <a:moveTo>
                    <a:pt x="0" y="0"/>
                  </a:moveTo>
                  <a:lnTo>
                    <a:pt x="1420325" y="0"/>
                  </a:lnTo>
                  <a:lnTo>
                    <a:pt x="1420325" y="1227596"/>
                  </a:lnTo>
                  <a:lnTo>
                    <a:pt x="0" y="1227596"/>
                  </a:lnTo>
                  <a:close/>
                </a:path>
              </a:pathLst>
            </a:custGeom>
            <a:blipFill>
              <a:blip r:embed="rId2"/>
              <a:stretch>
                <a:fillRect l="-3434" t="0" r="-3434" b="0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1028700" y="947074"/>
            <a:ext cx="879973" cy="879973"/>
            <a:chOff x="0" y="0"/>
            <a:chExt cx="736600" cy="736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800196" y="4263527"/>
            <a:ext cx="879973" cy="879973"/>
            <a:chOff x="0" y="0"/>
            <a:chExt cx="7366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011755" y="2144049"/>
            <a:ext cx="5276920" cy="178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7"/>
              </a:lnSpc>
            </a:pPr>
            <a:r>
              <a:rPr lang="en-US" sz="7194" spc="-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Simulações Realizadas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468687" y="5143500"/>
            <a:ext cx="5029673" cy="837236"/>
            <a:chOff x="0" y="0"/>
            <a:chExt cx="1324688" cy="22050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24688" cy="220507"/>
            </a:xfrm>
            <a:custGeom>
              <a:avLst/>
              <a:gdLst/>
              <a:ahLst/>
              <a:cxnLst/>
              <a:rect r="r" b="b" t="t" l="l"/>
              <a:pathLst>
                <a:path h="220507" w="1324688">
                  <a:moveTo>
                    <a:pt x="0" y="0"/>
                  </a:moveTo>
                  <a:lnTo>
                    <a:pt x="1324688" y="0"/>
                  </a:lnTo>
                  <a:lnTo>
                    <a:pt x="1324688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324688" cy="28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Testes e Validações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468687" y="6559005"/>
            <a:ext cx="7249286" cy="293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Cenários Testados: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Inicialização do sistema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Enchimento automático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Trabalho a seco (TON 8s)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Falha de enchimento (TON 90s)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Transbordamento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Reset seguro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010014" y="6945659"/>
            <a:ext cx="7249286" cy="260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Resultados: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Inicialização — ✔ OK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Enchimento automático — ✔ OK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Trabalho a seco — ✔ OK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Falha de enchimento — ✔ OK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Transbordamento — ✔ OK</a:t>
            </a:r>
          </a:p>
          <a:p>
            <a:pPr algn="just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Reset seguro — ✔ OK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3422380"/>
            <a:ext cx="7427301" cy="5928552"/>
            <a:chOff x="0" y="0"/>
            <a:chExt cx="1432466" cy="11434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2466" cy="1143410"/>
            </a:xfrm>
            <a:custGeom>
              <a:avLst/>
              <a:gdLst/>
              <a:ahLst/>
              <a:cxnLst/>
              <a:rect r="r" b="b" t="t" l="l"/>
              <a:pathLst>
                <a:path h="1143410" w="1432466">
                  <a:moveTo>
                    <a:pt x="0" y="0"/>
                  </a:moveTo>
                  <a:lnTo>
                    <a:pt x="1432466" y="0"/>
                  </a:lnTo>
                  <a:lnTo>
                    <a:pt x="1432466" y="1143410"/>
                  </a:lnTo>
                  <a:lnTo>
                    <a:pt x="0" y="1143410"/>
                  </a:lnTo>
                  <a:close/>
                </a:path>
              </a:pathLst>
            </a:custGeom>
            <a:blipFill>
              <a:blip r:embed="rId2"/>
              <a:stretch>
                <a:fillRect l="0" t="-660" r="0" b="-660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16394789" y="1570712"/>
            <a:ext cx="879973" cy="879973"/>
            <a:chOff x="0" y="0"/>
            <a:chExt cx="736600" cy="736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28700" y="1570712"/>
            <a:ext cx="879973" cy="879973"/>
            <a:chOff x="0" y="0"/>
            <a:chExt cx="7366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260204" y="1606317"/>
            <a:ext cx="15574571" cy="96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47"/>
              </a:lnSpc>
            </a:pPr>
            <a:r>
              <a:rPr lang="en-US" sz="7194" spc="-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Resultados Obtidos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047490" y="3422380"/>
            <a:ext cx="4391905" cy="837236"/>
            <a:chOff x="0" y="0"/>
            <a:chExt cx="1156716" cy="22050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56716" cy="220507"/>
            </a:xfrm>
            <a:custGeom>
              <a:avLst/>
              <a:gdLst/>
              <a:ahLst/>
              <a:cxnLst/>
              <a:rect r="r" b="b" t="t" l="l"/>
              <a:pathLst>
                <a:path h="220507" w="1156716">
                  <a:moveTo>
                    <a:pt x="0" y="0"/>
                  </a:moveTo>
                  <a:lnTo>
                    <a:pt x="1156716" y="0"/>
                  </a:lnTo>
                  <a:lnTo>
                    <a:pt x="1156716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156716" cy="28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Conquistas do Sistema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9047490" y="4283997"/>
            <a:ext cx="8474191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Estabilidade operacional: funcionamento contínuo e confiável do sistema de controle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Controle eficiente do nível: bomba acionada somente quando necessário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Proteção dos equipamentos: sensores e timers evitam danos à bomba e ao sistema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047490" y="6830616"/>
            <a:ext cx="7349195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Operação fail-safe: alarmes e bloqueios garantem segurança em falhas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Facilidade de expansão: arquitetura modular permite integração com SCADA e IoT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Sistema tecnicamente apto para migração a CLPs industriais reais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48047" y="1098128"/>
            <a:ext cx="7311253" cy="8160172"/>
            <a:chOff x="0" y="0"/>
            <a:chExt cx="1432466" cy="15987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32466" cy="1598792"/>
            </a:xfrm>
            <a:custGeom>
              <a:avLst/>
              <a:gdLst/>
              <a:ahLst/>
              <a:cxnLst/>
              <a:rect r="r" b="b" t="t" l="l"/>
              <a:pathLst>
                <a:path h="1598792" w="1432466">
                  <a:moveTo>
                    <a:pt x="0" y="0"/>
                  </a:moveTo>
                  <a:lnTo>
                    <a:pt x="1432466" y="0"/>
                  </a:lnTo>
                  <a:lnTo>
                    <a:pt x="1432466" y="1598792"/>
                  </a:lnTo>
                  <a:lnTo>
                    <a:pt x="0" y="1598792"/>
                  </a:lnTo>
                  <a:close/>
                </a:path>
              </a:pathLst>
            </a:custGeom>
            <a:blipFill>
              <a:blip r:embed="rId2"/>
              <a:stretch>
                <a:fillRect l="0" t="-5392" r="0" b="-5392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7" id="37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7" id="47"/>
          <p:cNvGrpSpPr/>
          <p:nvPr/>
        </p:nvGrpSpPr>
        <p:grpSpPr>
          <a:xfrm rot="0">
            <a:off x="8264027" y="1130725"/>
            <a:ext cx="879973" cy="879973"/>
            <a:chOff x="0" y="0"/>
            <a:chExt cx="736600" cy="736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84747" y="8638995"/>
            <a:ext cx="879973" cy="879973"/>
            <a:chOff x="0" y="0"/>
            <a:chExt cx="736600" cy="736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224734" y="1704062"/>
            <a:ext cx="4790493" cy="1788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47"/>
              </a:lnSpc>
            </a:pPr>
            <a:r>
              <a:rPr lang="en-US" sz="7194" spc="-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Melhorias Futuras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2011755" y="3807244"/>
            <a:ext cx="5882835" cy="1116708"/>
            <a:chOff x="0" y="0"/>
            <a:chExt cx="1549389" cy="2941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549389" cy="294112"/>
            </a:xfrm>
            <a:custGeom>
              <a:avLst/>
              <a:gdLst/>
              <a:ahLst/>
              <a:cxnLst/>
              <a:rect r="r" b="b" t="t" l="l"/>
              <a:pathLst>
                <a:path h="294112" w="1549389">
                  <a:moveTo>
                    <a:pt x="0" y="0"/>
                  </a:moveTo>
                  <a:lnTo>
                    <a:pt x="1549389" y="0"/>
                  </a:lnTo>
                  <a:lnTo>
                    <a:pt x="1549389" y="294112"/>
                  </a:lnTo>
                  <a:lnTo>
                    <a:pt x="0" y="294112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549389" cy="3607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Evolução Tecnológica do Sistema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2011755" y="5560220"/>
            <a:ext cx="11260238" cy="307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057"/>
              </a:lnSpc>
              <a:spcBef>
                <a:spcPct val="0"/>
              </a:spcBef>
            </a:pPr>
            <a:r>
              <a:rPr lang="en-US" sz="28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Sensores ultrassônicos de nível</a:t>
            </a:r>
          </a:p>
          <a:p>
            <a:pPr algn="just" marL="0" indent="0" lvl="0">
              <a:lnSpc>
                <a:spcPts val="4057"/>
              </a:lnSpc>
              <a:spcBef>
                <a:spcPct val="0"/>
              </a:spcBef>
            </a:pPr>
            <a:r>
              <a:rPr lang="en-US" sz="28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Controle PID para maior precisão</a:t>
            </a:r>
          </a:p>
          <a:p>
            <a:pPr algn="just" marL="0" indent="0" lvl="0">
              <a:lnSpc>
                <a:spcPts val="4057"/>
              </a:lnSpc>
              <a:spcBef>
                <a:spcPct val="0"/>
              </a:spcBef>
            </a:pPr>
            <a:r>
              <a:rPr lang="en-US" sz="28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Supervisório SCADA integrado</a:t>
            </a:r>
          </a:p>
          <a:p>
            <a:pPr algn="just" marL="0" indent="0" lvl="0">
              <a:lnSpc>
                <a:spcPts val="4057"/>
              </a:lnSpc>
              <a:spcBef>
                <a:spcPct val="0"/>
              </a:spcBef>
            </a:pPr>
            <a:r>
              <a:rPr lang="en-US" sz="28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IoT Industrial e conectividade</a:t>
            </a:r>
          </a:p>
          <a:p>
            <a:pPr algn="just" marL="0" indent="0" lvl="0">
              <a:lnSpc>
                <a:spcPts val="4057"/>
              </a:lnSpc>
              <a:spcBef>
                <a:spcPct val="0"/>
              </a:spcBef>
            </a:pPr>
            <a:r>
              <a:rPr lang="en-US" sz="28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Monitoramento remoto em tempo real</a:t>
            </a:r>
          </a:p>
          <a:p>
            <a:pPr algn="just" marL="0" indent="0" lvl="0">
              <a:lnSpc>
                <a:spcPts val="4057"/>
              </a:lnSpc>
              <a:spcBef>
                <a:spcPct val="0"/>
              </a:spcBef>
            </a:pPr>
            <a:r>
              <a:rPr lang="en-US" sz="28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Inversor de frequência na bomba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1595275" y="3040557"/>
            <a:ext cx="4739779" cy="837236"/>
            <a:chOff x="0" y="0"/>
            <a:chExt cx="1248337" cy="22050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48337" cy="220507"/>
            </a:xfrm>
            <a:custGeom>
              <a:avLst/>
              <a:gdLst/>
              <a:ahLst/>
              <a:cxnLst/>
              <a:rect r="r" b="b" t="t" l="l"/>
              <a:pathLst>
                <a:path h="220507" w="1248337">
                  <a:moveTo>
                    <a:pt x="0" y="0"/>
                  </a:moveTo>
                  <a:lnTo>
                    <a:pt x="1248337" y="0"/>
                  </a:lnTo>
                  <a:lnTo>
                    <a:pt x="1248337" y="220507"/>
                  </a:lnTo>
                  <a:lnTo>
                    <a:pt x="0" y="220507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1248337" cy="287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  <a:r>
                <a:rPr lang="en-US" sz="23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Funcionamento do CLP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88713" y="588713"/>
            <a:ext cx="879973" cy="879973"/>
            <a:chOff x="0" y="0"/>
            <a:chExt cx="736600" cy="736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704013" y="8818313"/>
            <a:ext cx="879973" cy="879973"/>
            <a:chOff x="0" y="0"/>
            <a:chExt cx="736600" cy="736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595275" y="1597123"/>
            <a:ext cx="7108738" cy="9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2"/>
              </a:lnSpc>
            </a:pPr>
            <a:r>
              <a:rPr lang="en-US" sz="7200" spc="-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Resultados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95275" y="4504192"/>
            <a:ext cx="8167793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Linguagem Ladder mostrou-se adequada para automação industrial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Histerese eliminou oscilações no acionamento da bomba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Proteções garantem segurança operacional contínua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• Reset seguro elevou a confiabilidade do sistema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“O sistema encontra-se tecnicamente apto para migração para CLPs industriais reais.”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062073" y="1028700"/>
            <a:ext cx="7197227" cy="8229600"/>
            <a:chOff x="0" y="0"/>
            <a:chExt cx="1410126" cy="161239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10126" cy="1612395"/>
            </a:xfrm>
            <a:custGeom>
              <a:avLst/>
              <a:gdLst/>
              <a:ahLst/>
              <a:cxnLst/>
              <a:rect r="r" b="b" t="t" l="l"/>
              <a:pathLst>
                <a:path h="1612395" w="1410126">
                  <a:moveTo>
                    <a:pt x="0" y="0"/>
                  </a:moveTo>
                  <a:lnTo>
                    <a:pt x="1410126" y="0"/>
                  </a:lnTo>
                  <a:lnTo>
                    <a:pt x="1410126" y="1612395"/>
                  </a:lnTo>
                  <a:lnTo>
                    <a:pt x="0" y="1612395"/>
                  </a:lnTo>
                  <a:close/>
                </a:path>
              </a:pathLst>
            </a:custGeom>
            <a:blipFill>
              <a:blip r:embed="rId2"/>
              <a:stretch>
                <a:fillRect l="0" t="-4068" r="0" b="-4068"/>
              </a:stretch>
            </a:blipFill>
            <a:ln w="19050" cap="sq">
              <a:solidFill>
                <a:srgbClr val="084A65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0077" y="360077"/>
            <a:ext cx="17567845" cy="9566845"/>
            <a:chOff x="0" y="0"/>
            <a:chExt cx="4626922" cy="2519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26922" cy="2519663"/>
            </a:xfrm>
            <a:custGeom>
              <a:avLst/>
              <a:gdLst/>
              <a:ahLst/>
              <a:cxnLst/>
              <a:rect r="r" b="b" t="t" l="l"/>
              <a:pathLst>
                <a:path h="2519663" w="4626922">
                  <a:moveTo>
                    <a:pt x="0" y="0"/>
                  </a:moveTo>
                  <a:lnTo>
                    <a:pt x="4626922" y="0"/>
                  </a:lnTo>
                  <a:lnTo>
                    <a:pt x="4626922" y="2519663"/>
                  </a:lnTo>
                  <a:lnTo>
                    <a:pt x="0" y="2519663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626922" cy="257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58058" y="-360077"/>
            <a:ext cx="3301242" cy="720155"/>
            <a:chOff x="0" y="0"/>
            <a:chExt cx="4401656" cy="96020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5400000">
            <a:off x="16637379" y="7916224"/>
            <a:ext cx="3301242" cy="720155"/>
            <a:chOff x="0" y="0"/>
            <a:chExt cx="4401656" cy="96020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5400000">
            <a:off x="-1650621" y="1650621"/>
            <a:ext cx="3301242" cy="720155"/>
            <a:chOff x="0" y="0"/>
            <a:chExt cx="4401656" cy="96020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35" id="35"/>
          <p:cNvGrpSpPr/>
          <p:nvPr/>
        </p:nvGrpSpPr>
        <p:grpSpPr>
          <a:xfrm rot="0">
            <a:off x="1028700" y="9926923"/>
            <a:ext cx="3301242" cy="720155"/>
            <a:chOff x="0" y="0"/>
            <a:chExt cx="4401656" cy="960206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15991833" y="1570712"/>
            <a:ext cx="879973" cy="879973"/>
            <a:chOff x="0" y="0"/>
            <a:chExt cx="736600" cy="736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54907" y="1570712"/>
            <a:ext cx="879973" cy="879973"/>
            <a:chOff x="0" y="0"/>
            <a:chExt cx="736600" cy="736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6831722" y="1597123"/>
            <a:ext cx="4624556" cy="960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2"/>
              </a:lnSpc>
            </a:pPr>
            <a:r>
              <a:rPr lang="en-US" sz="7200" spc="-5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Integrantes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99348" y="3668618"/>
            <a:ext cx="15248601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ANDERSON RUGO SANTOS              |   RA 825113851</a:t>
            </a:r>
          </a:p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JHONATAN GUEDES NANTES           |   RA 825116032</a:t>
            </a:r>
          </a:p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LUCAS GONÇALVES NASC</a:t>
            </a:r>
            <a:r>
              <a:rPr lang="en-US" b="true" sz="3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IMENTO |   RA 825242259</a:t>
            </a:r>
          </a:p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MATHEUS DIAS PEREIRA                     |  RA 825154435   </a:t>
            </a:r>
          </a:p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MARCUS V. ARAUJO TAVARES           |   RA 82510152    </a:t>
            </a:r>
          </a:p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SARA HAKIM DOS SANTOS                 |  RA 825232809   </a:t>
            </a:r>
          </a:p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SARAH MAZONI CAMARGO                |   RA 82525991   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4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84A65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274726" cy="2224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958058" y="668623"/>
            <a:ext cx="3301242" cy="720155"/>
            <a:chOff x="0" y="0"/>
            <a:chExt cx="4401656" cy="96020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028700" y="8898223"/>
            <a:ext cx="3301242" cy="720155"/>
            <a:chOff x="0" y="0"/>
            <a:chExt cx="4401656" cy="960206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2057400" cy="960206"/>
              <a:chOff x="0" y="0"/>
              <a:chExt cx="406400" cy="18967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72128" y="0"/>
              <a:ext cx="2057400" cy="960206"/>
              <a:chOff x="0" y="0"/>
              <a:chExt cx="406400" cy="18967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2344256" y="0"/>
              <a:ext cx="2057400" cy="960206"/>
              <a:chOff x="0" y="0"/>
              <a:chExt cx="406400" cy="18967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406400" cy="189670"/>
              </a:xfrm>
              <a:custGeom>
                <a:avLst/>
                <a:gdLst/>
                <a:ahLst/>
                <a:cxnLst/>
                <a:rect r="r" b="b" t="t" l="l"/>
                <a:pathLst>
                  <a:path h="189670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189670"/>
                    </a:lnTo>
                    <a:lnTo>
                      <a:pt x="0" y="18967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84A65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101600" y="-57150"/>
                <a:ext cx="203200" cy="2468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520"/>
                  </a:lnSpc>
                </a:pPr>
              </a:p>
            </p:txBody>
          </p:sp>
        </p:grpSp>
      </p:grpSp>
      <p:grpSp>
        <p:nvGrpSpPr>
          <p:cNvPr name="Group 25" id="25"/>
          <p:cNvGrpSpPr/>
          <p:nvPr/>
        </p:nvGrpSpPr>
        <p:grpSpPr>
          <a:xfrm rot="0">
            <a:off x="5589631" y="6405277"/>
            <a:ext cx="4455777" cy="881833"/>
            <a:chOff x="0" y="0"/>
            <a:chExt cx="1173538" cy="2322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73538" cy="232252"/>
            </a:xfrm>
            <a:custGeom>
              <a:avLst/>
              <a:gdLst/>
              <a:ahLst/>
              <a:cxnLst/>
              <a:rect r="r" b="b" t="t" l="l"/>
              <a:pathLst>
                <a:path h="232252" w="1173538">
                  <a:moveTo>
                    <a:pt x="0" y="0"/>
                  </a:moveTo>
                  <a:lnTo>
                    <a:pt x="1173538" y="0"/>
                  </a:lnTo>
                  <a:lnTo>
                    <a:pt x="1173538" y="232252"/>
                  </a:lnTo>
                  <a:lnTo>
                    <a:pt x="0" y="232252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173538" cy="28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31"/>
                </a:lnSpc>
              </a:pPr>
              <a:r>
                <a:rPr lang="en-US" sz="180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Universidade São Judas Tadeu, 2026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449969" y="2384776"/>
            <a:ext cx="879973" cy="879973"/>
            <a:chOff x="0" y="0"/>
            <a:chExt cx="736600" cy="736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958058" y="2384776"/>
            <a:ext cx="879973" cy="879973"/>
            <a:chOff x="0" y="0"/>
            <a:chExt cx="736600" cy="736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6600" cy="736600"/>
            </a:xfrm>
            <a:custGeom>
              <a:avLst/>
              <a:gdLst/>
              <a:ahLst/>
              <a:cxnLst/>
              <a:rect r="r" b="b" t="t" l="l"/>
              <a:pathLst>
                <a:path h="736600" w="736600">
                  <a:moveTo>
                    <a:pt x="403917" y="1726"/>
                  </a:moveTo>
                  <a:lnTo>
                    <a:pt x="415649" y="58853"/>
                  </a:lnTo>
                  <a:cubicBezTo>
                    <a:pt x="438357" y="62325"/>
                    <a:pt x="460614" y="68279"/>
                    <a:pt x="482015" y="76631"/>
                  </a:cubicBezTo>
                  <a:lnTo>
                    <a:pt x="520737" y="33030"/>
                  </a:lnTo>
                  <a:cubicBezTo>
                    <a:pt x="542404" y="42874"/>
                    <a:pt x="563067" y="54809"/>
                    <a:pt x="582433" y="68642"/>
                  </a:cubicBezTo>
                  <a:lnTo>
                    <a:pt x="564034" y="123985"/>
                  </a:lnTo>
                  <a:cubicBezTo>
                    <a:pt x="581961" y="138346"/>
                    <a:pt x="598253" y="154633"/>
                    <a:pt x="612616" y="172565"/>
                  </a:cubicBezTo>
                  <a:lnTo>
                    <a:pt x="667950" y="154159"/>
                  </a:lnTo>
                  <a:cubicBezTo>
                    <a:pt x="681791" y="173526"/>
                    <a:pt x="693720" y="194192"/>
                    <a:pt x="703572" y="215859"/>
                  </a:cubicBezTo>
                  <a:lnTo>
                    <a:pt x="659969" y="254582"/>
                  </a:lnTo>
                  <a:cubicBezTo>
                    <a:pt x="668315" y="275985"/>
                    <a:pt x="674277" y="298239"/>
                    <a:pt x="677752" y="320940"/>
                  </a:cubicBezTo>
                  <a:lnTo>
                    <a:pt x="734873" y="332680"/>
                  </a:lnTo>
                  <a:cubicBezTo>
                    <a:pt x="737175" y="356371"/>
                    <a:pt x="737175" y="380229"/>
                    <a:pt x="734873" y="403920"/>
                  </a:cubicBezTo>
                  <a:lnTo>
                    <a:pt x="677752" y="415646"/>
                  </a:lnTo>
                  <a:cubicBezTo>
                    <a:pt x="674277" y="438361"/>
                    <a:pt x="668315" y="460615"/>
                    <a:pt x="659969" y="482018"/>
                  </a:cubicBezTo>
                  <a:lnTo>
                    <a:pt x="703572" y="520741"/>
                  </a:lnTo>
                  <a:cubicBezTo>
                    <a:pt x="693720" y="542408"/>
                    <a:pt x="681791" y="563060"/>
                    <a:pt x="667950" y="582427"/>
                  </a:cubicBezTo>
                  <a:lnTo>
                    <a:pt x="612616" y="564035"/>
                  </a:lnTo>
                  <a:cubicBezTo>
                    <a:pt x="598253" y="581953"/>
                    <a:pt x="581961" y="598254"/>
                    <a:pt x="564034" y="612616"/>
                  </a:cubicBezTo>
                  <a:lnTo>
                    <a:pt x="582433" y="667945"/>
                  </a:lnTo>
                  <a:cubicBezTo>
                    <a:pt x="563067" y="681791"/>
                    <a:pt x="542404" y="693712"/>
                    <a:pt x="520737" y="703571"/>
                  </a:cubicBezTo>
                  <a:lnTo>
                    <a:pt x="482015" y="659968"/>
                  </a:lnTo>
                  <a:cubicBezTo>
                    <a:pt x="460614" y="668307"/>
                    <a:pt x="438357" y="674275"/>
                    <a:pt x="415649" y="677747"/>
                  </a:cubicBezTo>
                  <a:lnTo>
                    <a:pt x="403917" y="734874"/>
                  </a:lnTo>
                  <a:cubicBezTo>
                    <a:pt x="380227" y="737175"/>
                    <a:pt x="356368" y="737175"/>
                    <a:pt x="332676" y="734874"/>
                  </a:cubicBezTo>
                  <a:lnTo>
                    <a:pt x="320944" y="677747"/>
                  </a:lnTo>
                  <a:cubicBezTo>
                    <a:pt x="298235" y="674275"/>
                    <a:pt x="275981" y="668307"/>
                    <a:pt x="254579" y="659968"/>
                  </a:cubicBezTo>
                  <a:lnTo>
                    <a:pt x="215849" y="703571"/>
                  </a:lnTo>
                  <a:cubicBezTo>
                    <a:pt x="194194" y="693712"/>
                    <a:pt x="173529" y="681791"/>
                    <a:pt x="154161" y="667945"/>
                  </a:cubicBezTo>
                  <a:lnTo>
                    <a:pt x="172568" y="612616"/>
                  </a:lnTo>
                  <a:cubicBezTo>
                    <a:pt x="154635" y="598254"/>
                    <a:pt x="138335" y="581953"/>
                    <a:pt x="123972" y="564035"/>
                  </a:cubicBezTo>
                  <a:lnTo>
                    <a:pt x="68643" y="582427"/>
                  </a:lnTo>
                  <a:cubicBezTo>
                    <a:pt x="54810" y="563060"/>
                    <a:pt x="42874" y="542408"/>
                    <a:pt x="33016" y="520741"/>
                  </a:cubicBezTo>
                  <a:lnTo>
                    <a:pt x="76619" y="482018"/>
                  </a:lnTo>
                  <a:cubicBezTo>
                    <a:pt x="68280" y="460615"/>
                    <a:pt x="62312" y="438361"/>
                    <a:pt x="58840" y="415646"/>
                  </a:cubicBezTo>
                  <a:lnTo>
                    <a:pt x="1726" y="403920"/>
                  </a:lnTo>
                  <a:cubicBezTo>
                    <a:pt x="-575" y="380229"/>
                    <a:pt x="-575" y="356371"/>
                    <a:pt x="1726" y="332680"/>
                  </a:cubicBezTo>
                  <a:lnTo>
                    <a:pt x="58840" y="320940"/>
                  </a:lnTo>
                  <a:cubicBezTo>
                    <a:pt x="62312" y="298239"/>
                    <a:pt x="68280" y="275985"/>
                    <a:pt x="76619" y="254582"/>
                  </a:cubicBezTo>
                  <a:lnTo>
                    <a:pt x="33016" y="215859"/>
                  </a:lnTo>
                  <a:cubicBezTo>
                    <a:pt x="42874" y="194192"/>
                    <a:pt x="54810" y="173526"/>
                    <a:pt x="68643" y="154159"/>
                  </a:cubicBezTo>
                  <a:lnTo>
                    <a:pt x="123972" y="172565"/>
                  </a:lnTo>
                  <a:cubicBezTo>
                    <a:pt x="138335" y="154633"/>
                    <a:pt x="154635" y="138346"/>
                    <a:pt x="172568" y="123985"/>
                  </a:cubicBezTo>
                  <a:lnTo>
                    <a:pt x="154161" y="68642"/>
                  </a:lnTo>
                  <a:cubicBezTo>
                    <a:pt x="173529" y="54809"/>
                    <a:pt x="194194" y="42874"/>
                    <a:pt x="215849" y="33030"/>
                  </a:cubicBezTo>
                  <a:lnTo>
                    <a:pt x="254579" y="76631"/>
                  </a:lnTo>
                  <a:cubicBezTo>
                    <a:pt x="275981" y="68279"/>
                    <a:pt x="298235" y="62325"/>
                    <a:pt x="320944" y="58853"/>
                  </a:cubicBezTo>
                  <a:lnTo>
                    <a:pt x="332676" y="1726"/>
                  </a:lnTo>
                  <a:cubicBezTo>
                    <a:pt x="356368" y="-575"/>
                    <a:pt x="380227" y="-575"/>
                    <a:pt x="403917" y="1726"/>
                  </a:cubicBezTo>
                  <a:close/>
                  <a:moveTo>
                    <a:pt x="368297" y="138124"/>
                  </a:moveTo>
                  <a:cubicBezTo>
                    <a:pt x="241256" y="138124"/>
                    <a:pt x="138125" y="241266"/>
                    <a:pt x="138125" y="368294"/>
                  </a:cubicBezTo>
                  <a:cubicBezTo>
                    <a:pt x="138125" y="495334"/>
                    <a:pt x="241256" y="598476"/>
                    <a:pt x="368297" y="598476"/>
                  </a:cubicBezTo>
                  <a:cubicBezTo>
                    <a:pt x="495334" y="598476"/>
                    <a:pt x="598472" y="495334"/>
                    <a:pt x="598472" y="368294"/>
                  </a:cubicBezTo>
                  <a:cubicBezTo>
                    <a:pt x="598472" y="241266"/>
                    <a:pt x="495334" y="138124"/>
                    <a:pt x="368297" y="1381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46050" y="88900"/>
              <a:ext cx="444500" cy="501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589631" y="3172961"/>
            <a:ext cx="7108738" cy="1970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334"/>
              </a:lnSpc>
              <a:spcBef>
                <a:spcPct val="0"/>
              </a:spcBef>
            </a:pPr>
            <a:r>
              <a:rPr lang="en-US" sz="10953" spc="-86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Obrigado!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378114" y="6405277"/>
            <a:ext cx="3579944" cy="881833"/>
            <a:chOff x="0" y="0"/>
            <a:chExt cx="942866" cy="2322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2866" cy="232252"/>
            </a:xfrm>
            <a:custGeom>
              <a:avLst/>
              <a:gdLst/>
              <a:ahLst/>
              <a:cxnLst/>
              <a:rect r="r" b="b" t="t" l="l"/>
              <a:pathLst>
                <a:path h="232252" w="942866">
                  <a:moveTo>
                    <a:pt x="0" y="0"/>
                  </a:moveTo>
                  <a:lnTo>
                    <a:pt x="942866" y="0"/>
                  </a:lnTo>
                  <a:lnTo>
                    <a:pt x="942866" y="232252"/>
                  </a:lnTo>
                  <a:lnTo>
                    <a:pt x="0" y="232252"/>
                  </a:lnTo>
                  <a:close/>
                </a:path>
              </a:pathLst>
            </a:custGeom>
            <a:solidFill>
              <a:srgbClr val="084A6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42866" cy="289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31"/>
                </a:lnSpc>
              </a:pPr>
              <a:r>
                <a:rPr lang="en-US" sz="180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</a:t>
              </a:r>
              <a:r>
                <a:rPr lang="en-US" sz="1807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istemas Automatizados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DAHMCDJepgc</dc:identifier>
  <dcterms:modified xsi:type="dcterms:W3CDTF">2011-08-01T06:04:30Z</dcterms:modified>
  <cp:revision>1</cp:revision>
  <dc:title>Sistema Automatizado de Controle de Tanque com Ladder CLP</dc:title>
</cp:coreProperties>
</file>